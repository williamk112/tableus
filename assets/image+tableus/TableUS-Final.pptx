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60" r:id="rId5"/>
    <p:sldId id="261" r:id="rId6"/>
    <p:sldId id="262" r:id="rId7"/>
    <p:sldId id="264" r:id="rId8"/>
    <p:sldId id="265" r:id="rId9"/>
    <p:sldId id="267" r:id="rId10"/>
    <p:sldId id="268" r:id="rId11"/>
    <p:sldId id="270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 autoAdjust="0"/>
    <p:restoredTop sz="94652" autoAdjust="0"/>
  </p:normalViewPr>
  <p:slideViewPr>
    <p:cSldViewPr>
      <p:cViewPr>
        <p:scale>
          <a:sx n="55" d="100"/>
          <a:sy n="55" d="100"/>
        </p:scale>
        <p:origin x="1056" y="13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2160" y="-22412"/>
            <a:ext cx="16518160" cy="921403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E3021B4-FD94-F31E-577A-5BC34A64F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483275" y="145475"/>
            <a:ext cx="5181600" cy="550025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2916943-4522-0A48-A140-F9EB7F4365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-1524000"/>
            <a:ext cx="17116612" cy="1141107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C034A74-0418-BBF3-43AC-E1B159BE5D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686799"/>
            <a:ext cx="1346200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6392605" cy="9144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67FD261-CA1F-0E2B-4069-B90BCFBD1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553729"/>
            <a:ext cx="10775043" cy="76573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137AD5F-D2FA-A8E0-C184-FAE15D8F0D03}"/>
              </a:ext>
            </a:extLst>
          </p:cNvPr>
          <p:cNvSpPr txBox="1"/>
          <p:nvPr/>
        </p:nvSpPr>
        <p:spPr>
          <a:xfrm>
            <a:off x="3098800" y="489750"/>
            <a:ext cx="13599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8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ADLaM Display" panose="02010000000000000000" pitchFamily="2" charset="0"/>
              </a:rPr>
              <a:t>Finding Food Shouldn’t Be This Hard!!</a:t>
            </a:r>
            <a:endParaRPr kumimoji="1" lang="zh-CN" altLang="en-US" sz="4800" b="1" dirty="0">
              <a:solidFill>
                <a:schemeClr val="bg1"/>
              </a:solidFill>
              <a:latin typeface="Baskerville" panose="02020502070401020303" pitchFamily="18" charset="0"/>
              <a:ea typeface="+mj-ea"/>
              <a:cs typeface="ADLaM Display" panose="0201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E8925C1-7B69-B44A-34F2-E90784A55AE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-68017" y="0"/>
            <a:ext cx="16324017" cy="9162294"/>
          </a:xfrm>
          <a:prstGeom prst="rect">
            <a:avLst/>
          </a:prstGeom>
        </p:spPr>
      </p:pic>
      <p:sp>
        <p:nvSpPr>
          <p:cNvPr id="4" name="Shape 15">
            <a:extLst>
              <a:ext uri="{FF2B5EF4-FFF2-40B4-BE49-F238E27FC236}">
                <a16:creationId xmlns:a16="http://schemas.microsoft.com/office/drawing/2014/main" id="{51E37F63-9031-973B-9B75-D5D916AFAFA3}"/>
              </a:ext>
            </a:extLst>
          </p:cNvPr>
          <p:cNvSpPr/>
          <p:nvPr/>
        </p:nvSpPr>
        <p:spPr>
          <a:xfrm>
            <a:off x="594360" y="4992618"/>
            <a:ext cx="4873752" cy="2852921"/>
          </a:xfrm>
          <a:prstGeom prst="roundRect">
            <a:avLst>
              <a:gd name="adj" fmla="val 5161"/>
            </a:avLst>
          </a:prstGeom>
          <a:solidFill>
            <a:srgbClr val="1A2433">
              <a:alpha val="92000"/>
            </a:srgbClr>
          </a:solidFill>
          <a:ln w="19050">
            <a:solidFill>
              <a:srgbClr val="F28C5B">
                <a:alpha val="90000"/>
              </a:srgbClr>
            </a:solidFill>
            <a:prstDash val="solid"/>
          </a:ln>
          <a:effectLst>
            <a:outerShdw blurRad="254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78563198-8B4A-3D9A-A15B-C8B77750421B}"/>
              </a:ext>
            </a:extLst>
          </p:cNvPr>
          <p:cNvSpPr/>
          <p:nvPr/>
        </p:nvSpPr>
        <p:spPr>
          <a:xfrm>
            <a:off x="594360" y="304800"/>
            <a:ext cx="1378204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now: diners are social, exploratory, and ready for AI</a:t>
            </a:r>
            <a:endParaRPr lang="en-US" sz="44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7B3626D-57F2-DB07-3813-21F8490192C1}"/>
              </a:ext>
            </a:extLst>
          </p:cNvPr>
          <p:cNvSpPr/>
          <p:nvPr/>
        </p:nvSpPr>
        <p:spPr>
          <a:xfrm>
            <a:off x="612647" y="827598"/>
            <a:ext cx="13666225" cy="31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D3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behavior change is already visible in restaurant demand, cuisine discovery, and planning tools.</a:t>
            </a:r>
            <a:endParaRPr lang="en-US" sz="24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F963D3E-A029-2BBB-C383-BE952B15B93C}"/>
              </a:ext>
            </a:extLst>
          </p:cNvPr>
          <p:cNvSpPr/>
          <p:nvPr/>
        </p:nvSpPr>
        <p:spPr>
          <a:xfrm>
            <a:off x="612648" y="1261872"/>
            <a:ext cx="13839948" cy="0"/>
          </a:xfrm>
          <a:prstGeom prst="line">
            <a:avLst/>
          </a:prstGeom>
          <a:noFill/>
          <a:ln w="15240">
            <a:solidFill>
              <a:srgbClr val="EA7A6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CN" altLang="en-US" sz="3600"/>
          </a:p>
        </p:txBody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7D7F11DC-7455-AA05-F4F9-0DDD9B58408A}"/>
              </a:ext>
            </a:extLst>
          </p:cNvPr>
          <p:cNvSpPr/>
          <p:nvPr/>
        </p:nvSpPr>
        <p:spPr>
          <a:xfrm>
            <a:off x="594360" y="1700785"/>
            <a:ext cx="4873752" cy="2852921"/>
          </a:xfrm>
          <a:prstGeom prst="roundRect">
            <a:avLst>
              <a:gd name="adj" fmla="val 5161"/>
            </a:avLst>
          </a:prstGeom>
          <a:solidFill>
            <a:srgbClr val="1A2433">
              <a:alpha val="92000"/>
            </a:srgbClr>
          </a:solidFill>
          <a:ln w="19050">
            <a:solidFill>
              <a:srgbClr val="F28C5B">
                <a:alpha val="90000"/>
              </a:srgbClr>
            </a:solidFill>
            <a:prstDash val="solid"/>
          </a:ln>
          <a:effectLst>
            <a:outerShdw blurRad="254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B480DFE8-98EB-980A-4860-0A8892B76EA4}"/>
              </a:ext>
            </a:extLst>
          </p:cNvPr>
          <p:cNvSpPr/>
          <p:nvPr/>
        </p:nvSpPr>
        <p:spPr>
          <a:xfrm>
            <a:off x="5914138" y="1719079"/>
            <a:ext cx="4873752" cy="2852921"/>
          </a:xfrm>
          <a:prstGeom prst="roundRect">
            <a:avLst>
              <a:gd name="adj" fmla="val 5161"/>
            </a:avLst>
          </a:prstGeom>
          <a:solidFill>
            <a:srgbClr val="1A2433">
              <a:alpha val="92000"/>
            </a:srgbClr>
          </a:solidFill>
          <a:ln w="19050">
            <a:solidFill>
              <a:srgbClr val="F28C5B">
                <a:alpha val="90000"/>
              </a:srgbClr>
            </a:solidFill>
            <a:prstDash val="solid"/>
          </a:ln>
          <a:effectLst>
            <a:outerShdw blurRad="254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15">
            <a:extLst>
              <a:ext uri="{FF2B5EF4-FFF2-40B4-BE49-F238E27FC236}">
                <a16:creationId xmlns:a16="http://schemas.microsoft.com/office/drawing/2014/main" id="{656DA849-3468-DDB9-C733-204FD0E8DA6C}"/>
              </a:ext>
            </a:extLst>
          </p:cNvPr>
          <p:cNvSpPr/>
          <p:nvPr/>
        </p:nvSpPr>
        <p:spPr>
          <a:xfrm>
            <a:off x="5906155" y="5029207"/>
            <a:ext cx="4873752" cy="2852921"/>
          </a:xfrm>
          <a:prstGeom prst="roundRect">
            <a:avLst>
              <a:gd name="adj" fmla="val 5161"/>
            </a:avLst>
          </a:prstGeom>
          <a:solidFill>
            <a:srgbClr val="1A2433">
              <a:alpha val="92000"/>
            </a:srgbClr>
          </a:solidFill>
          <a:ln w="19050">
            <a:solidFill>
              <a:srgbClr val="F28C5B">
                <a:alpha val="90000"/>
              </a:srgbClr>
            </a:solidFill>
            <a:prstDash val="solid"/>
          </a:ln>
          <a:effectLst>
            <a:outerShdw blurRad="254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CD03AC3A-3273-DD82-564C-5816E8EE05C3}"/>
              </a:ext>
            </a:extLst>
          </p:cNvPr>
          <p:cNvSpPr/>
          <p:nvPr/>
        </p:nvSpPr>
        <p:spPr>
          <a:xfrm>
            <a:off x="11119077" y="1719078"/>
            <a:ext cx="4873752" cy="2852921"/>
          </a:xfrm>
          <a:prstGeom prst="roundRect">
            <a:avLst>
              <a:gd name="adj" fmla="val 5161"/>
            </a:avLst>
          </a:prstGeom>
          <a:solidFill>
            <a:srgbClr val="1A2433">
              <a:alpha val="92000"/>
            </a:srgbClr>
          </a:solidFill>
          <a:ln w="19050">
            <a:solidFill>
              <a:srgbClr val="F28C5B">
                <a:alpha val="90000"/>
              </a:srgbClr>
            </a:solidFill>
            <a:prstDash val="solid"/>
          </a:ln>
          <a:effectLst>
            <a:outerShdw blurRad="254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8255E982-DAAB-BE14-5378-EA5DF155AED1}"/>
              </a:ext>
            </a:extLst>
          </p:cNvPr>
          <p:cNvSpPr/>
          <p:nvPr/>
        </p:nvSpPr>
        <p:spPr>
          <a:xfrm>
            <a:off x="11139759" y="5029207"/>
            <a:ext cx="4873752" cy="2852921"/>
          </a:xfrm>
          <a:prstGeom prst="roundRect">
            <a:avLst>
              <a:gd name="adj" fmla="val 5161"/>
            </a:avLst>
          </a:prstGeom>
          <a:solidFill>
            <a:srgbClr val="1A2433">
              <a:alpha val="92000"/>
            </a:srgbClr>
          </a:solidFill>
          <a:ln w="19050">
            <a:solidFill>
              <a:srgbClr val="F28C5B">
                <a:alpha val="90000"/>
              </a:srgbClr>
            </a:solidFill>
            <a:prstDash val="solid"/>
          </a:ln>
          <a:effectLst>
            <a:outerShdw blurRad="254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E5C41D73-7A42-B27E-D23D-6549ECF37FE5}"/>
              </a:ext>
            </a:extLst>
          </p:cNvPr>
          <p:cNvSpPr/>
          <p:nvPr/>
        </p:nvSpPr>
        <p:spPr>
          <a:xfrm>
            <a:off x="821073" y="4796530"/>
            <a:ext cx="3991864" cy="1726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+11%</a:t>
            </a:r>
            <a:endParaRPr lang="en-US" sz="48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16F17B3-70DC-F243-77A4-1D9A02CB723B}"/>
              </a:ext>
            </a:extLst>
          </p:cNvPr>
          <p:cNvSpPr/>
          <p:nvPr/>
        </p:nvSpPr>
        <p:spPr>
          <a:xfrm>
            <a:off x="821073" y="5528770"/>
            <a:ext cx="3991864" cy="14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dining YoY</a:t>
            </a:r>
            <a:endParaRPr lang="en-US" sz="32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8EEC77A-0BDF-267E-F09F-86E783D8BA20}"/>
              </a:ext>
            </a:extLst>
          </p:cNvPr>
          <p:cNvSpPr/>
          <p:nvPr/>
        </p:nvSpPr>
        <p:spPr>
          <a:xfrm>
            <a:off x="821073" y="6054551"/>
            <a:ext cx="3991864" cy="163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OpenTable says group dining rose year over year in 2025.</a:t>
            </a:r>
            <a:endParaRPr lang="en-US" sz="20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F7011986-2035-6877-7DF4-E18C5ADC3B2D}"/>
              </a:ext>
            </a:extLst>
          </p:cNvPr>
          <p:cNvSpPr/>
          <p:nvPr/>
        </p:nvSpPr>
        <p:spPr>
          <a:xfrm>
            <a:off x="6300797" y="2197604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40%</a:t>
            </a:r>
            <a:endParaRPr lang="en-US" sz="48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09572FDA-B29A-23DC-E81D-16E9CD5B1D2F}"/>
              </a:ext>
            </a:extLst>
          </p:cNvPr>
          <p:cNvSpPr/>
          <p:nvPr/>
        </p:nvSpPr>
        <p:spPr>
          <a:xfrm>
            <a:off x="6193942" y="2778554"/>
            <a:ext cx="43047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group over solo</a:t>
            </a:r>
            <a:endParaRPr lang="en-US" sz="32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FCFF12AA-2333-47E7-1E1B-934F7CE8522E}"/>
              </a:ext>
            </a:extLst>
          </p:cNvPr>
          <p:cNvSpPr/>
          <p:nvPr/>
        </p:nvSpPr>
        <p:spPr>
          <a:xfrm>
            <a:off x="6196845" y="3572256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Americans who say they would rather eat with a group.</a:t>
            </a:r>
            <a:endParaRPr lang="en-US" sz="20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3CA7E9D8-A4B5-3D01-0577-3930F978D9C1}"/>
              </a:ext>
            </a:extLst>
          </p:cNvPr>
          <p:cNvSpPr/>
          <p:nvPr/>
        </p:nvSpPr>
        <p:spPr>
          <a:xfrm>
            <a:off x="11550759" y="2191350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44%</a:t>
            </a:r>
            <a:endParaRPr lang="en-US" sz="48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A781FE38-3298-C287-8AEF-10DC0B77D7AC}"/>
              </a:ext>
            </a:extLst>
          </p:cNvPr>
          <p:cNvSpPr/>
          <p:nvPr/>
        </p:nvSpPr>
        <p:spPr>
          <a:xfrm>
            <a:off x="11571079" y="2772961"/>
            <a:ext cx="3863848" cy="24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more AI use</a:t>
            </a:r>
            <a:endParaRPr lang="en-US" sz="32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04B1C260-5706-8BF0-C491-0DD17C14CE83}"/>
              </a:ext>
            </a:extLst>
          </p:cNvPr>
          <p:cNvSpPr/>
          <p:nvPr/>
        </p:nvSpPr>
        <p:spPr>
          <a:xfrm>
            <a:off x="11571079" y="3506067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restaurant discovery and reservations in 2026.</a:t>
            </a:r>
            <a:endParaRPr lang="en-US" sz="20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E88F2969-834C-38AD-6091-D0091220BCD0}"/>
              </a:ext>
            </a:extLst>
          </p:cNvPr>
          <p:cNvSpPr/>
          <p:nvPr/>
        </p:nvSpPr>
        <p:spPr>
          <a:xfrm>
            <a:off x="6406388" y="5651007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58%</a:t>
            </a:r>
            <a:endParaRPr lang="en-US" sz="48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7A0945DA-4315-CDA6-67F8-C94AACA6BAB1}"/>
              </a:ext>
            </a:extLst>
          </p:cNvPr>
          <p:cNvSpPr/>
          <p:nvPr/>
        </p:nvSpPr>
        <p:spPr>
          <a:xfrm>
            <a:off x="6406388" y="6108214"/>
            <a:ext cx="6586583" cy="347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global cuisines</a:t>
            </a:r>
            <a:endParaRPr lang="en-US" sz="32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190F9792-D25B-C789-78A3-D42340DA6F34}"/>
              </a:ext>
            </a:extLst>
          </p:cNvPr>
          <p:cNvSpPr/>
          <p:nvPr/>
        </p:nvSpPr>
        <p:spPr>
          <a:xfrm>
            <a:off x="6406388" y="6853197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Consumers say they now eat a wider variety of cuisines.</a:t>
            </a:r>
            <a:endParaRPr lang="en-US" sz="200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87363BBA-CF3C-3EB3-9B1E-4C2490B2D2F9}"/>
              </a:ext>
            </a:extLst>
          </p:cNvPr>
          <p:cNvSpPr/>
          <p:nvPr/>
        </p:nvSpPr>
        <p:spPr>
          <a:xfrm>
            <a:off x="11555113" y="5586981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86%</a:t>
            </a:r>
            <a:endParaRPr lang="en-US" sz="48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C89314C0-B44D-B1E8-58BD-CA184B26123D}"/>
              </a:ext>
            </a:extLst>
          </p:cNvPr>
          <p:cNvSpPr/>
          <p:nvPr/>
        </p:nvSpPr>
        <p:spPr>
          <a:xfrm>
            <a:off x="11571079" y="6224040"/>
            <a:ext cx="40499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fontAlgn="t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new foods</a:t>
            </a:r>
            <a:endParaRPr lang="en-US" sz="320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A4110CF8-60A9-C743-B00E-177C3CF1B779}"/>
              </a:ext>
            </a:extLst>
          </p:cNvPr>
          <p:cNvSpPr/>
          <p:nvPr/>
        </p:nvSpPr>
        <p:spPr>
          <a:xfrm>
            <a:off x="11571079" y="6906780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Consumers who see restaurants as places to learn new tastes.</a:t>
            </a:r>
            <a:endParaRPr lang="en-US" sz="20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19B812E9-8035-BD68-A6CC-CEBEC4317390}"/>
              </a:ext>
            </a:extLst>
          </p:cNvPr>
          <p:cNvSpPr/>
          <p:nvPr/>
        </p:nvSpPr>
        <p:spPr>
          <a:xfrm>
            <a:off x="821073" y="1726155"/>
            <a:ext cx="3991864" cy="1726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</a:rPr>
              <a:t>Problem</a:t>
            </a:r>
            <a:r>
              <a:rPr lang="en-US" altLang="zh-CN" sz="4800" b="1" dirty="0">
                <a:solidFill>
                  <a:srgbClr val="FFFFFF"/>
                </a:solidFill>
                <a:latin typeface="Aptos Display" pitchFamily="34" charset="0"/>
              </a:rPr>
              <a:t>:</a:t>
            </a:r>
          </a:p>
          <a:p>
            <a:pPr marL="0" indent="0">
              <a:buNone/>
            </a:pPr>
            <a:endParaRPr lang="en-US" altLang="zh-CN" sz="4800" b="1" dirty="0">
              <a:solidFill>
                <a:srgbClr val="FFFFFF"/>
              </a:solidFill>
              <a:latin typeface="Aptos Display" pitchFamily="34" charset="0"/>
            </a:endParaRPr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349BA0C9-492F-BADF-07CE-C576AFD37330}"/>
              </a:ext>
            </a:extLst>
          </p:cNvPr>
          <p:cNvSpPr/>
          <p:nvPr/>
        </p:nvSpPr>
        <p:spPr>
          <a:xfrm>
            <a:off x="839330" y="3180036"/>
            <a:ext cx="43047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Britannic Bold" panose="020B0903060703020204" pitchFamily="34" charset="0"/>
              </a:rPr>
              <a:t>Traditional</a:t>
            </a:r>
            <a:r>
              <a:rPr lang="zh-CN" altLang="en-US" sz="3200" dirty="0">
                <a:solidFill>
                  <a:schemeClr val="bg1"/>
                </a:solidFill>
                <a:latin typeface="Britannic Bold" panose="020B0903060703020204" pitchFamily="34" charset="0"/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latin typeface="Britannic Bold" panose="020B0903060703020204" pitchFamily="34" charset="0"/>
              </a:rPr>
              <a:t>searching app ignore complex taste preferences. </a:t>
            </a:r>
            <a:r>
              <a:rPr lang="zh-CN" altLang="en-US" sz="3200" dirty="0">
                <a:latin typeface="Britannic Bold" panose="020B0903060703020204" pitchFamily="34" charset="0"/>
              </a:rPr>
              <a:t> </a:t>
            </a:r>
            <a:endParaRPr lang="en-US" sz="3200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977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56" y="0"/>
            <a:ext cx="16416712" cy="91574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800" y="0"/>
            <a:ext cx="16357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18" y="0"/>
            <a:ext cx="16276918" cy="91692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639260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639260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19" y="0"/>
            <a:ext cx="1639260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639260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6392605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127</Words>
  <Application>Microsoft Macintosh PowerPoint</Application>
  <PresentationFormat>自定义</PresentationFormat>
  <Paragraphs>20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Baskerville</vt:lpstr>
      <vt:lpstr>Britannic Bold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William KANG</cp:lastModifiedBy>
  <cp:revision>3</cp:revision>
  <dcterms:created xsi:type="dcterms:W3CDTF">2006-08-16T00:00:00Z</dcterms:created>
  <dcterms:modified xsi:type="dcterms:W3CDTF">2026-04-11T19:58:03Z</dcterms:modified>
</cp:coreProperties>
</file>